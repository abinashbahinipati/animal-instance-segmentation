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8"/>
  </p:notesMasterIdLst>
  <p:sldIdLst>
    <p:sldId id="269" r:id="rId2"/>
    <p:sldId id="275" r:id="rId3"/>
    <p:sldId id="257" r:id="rId4"/>
    <p:sldId id="298" r:id="rId5"/>
    <p:sldId id="306" r:id="rId6"/>
    <p:sldId id="258" r:id="rId7"/>
    <p:sldId id="292" r:id="rId8"/>
    <p:sldId id="307" r:id="rId9"/>
    <p:sldId id="308" r:id="rId10"/>
    <p:sldId id="299" r:id="rId11"/>
    <p:sldId id="309" r:id="rId12"/>
    <p:sldId id="300" r:id="rId13"/>
    <p:sldId id="311" r:id="rId14"/>
    <p:sldId id="304" r:id="rId15"/>
    <p:sldId id="305" r:id="rId16"/>
    <p:sldId id="301" r:id="rId17"/>
    <p:sldId id="302" r:id="rId18"/>
    <p:sldId id="312" r:id="rId19"/>
    <p:sldId id="313" r:id="rId20"/>
    <p:sldId id="315" r:id="rId21"/>
    <p:sldId id="303" r:id="rId22"/>
    <p:sldId id="314" r:id="rId23"/>
    <p:sldId id="296" r:id="rId24"/>
    <p:sldId id="276" r:id="rId25"/>
    <p:sldId id="266" r:id="rId26"/>
    <p:sldId id="26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651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7F4E5-8F44-4443-BE25-559B97A16D17}" v="2" dt="2026-04-20T09:46:24.952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A5579-5FAE-4D79-BADB-24F44877215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690-5D1C-4A22-A83F-72B087D8A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3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C03C-4E4B-456A-82F7-0C8C80F802A4}" type="datetime1">
              <a:rPr lang="en-IN" smtClean="0"/>
              <a:pPr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3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4" y="118768"/>
            <a:ext cx="10981678" cy="914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3" y="1175689"/>
            <a:ext cx="11934547" cy="5001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A4AFCA-8DE5-5669-908F-343D5B296399}"/>
              </a:ext>
            </a:extLst>
          </p:cNvPr>
          <p:cNvCxnSpPr/>
          <p:nvPr userDrawn="1"/>
        </p:nvCxnSpPr>
        <p:spPr>
          <a:xfrm>
            <a:off x="0" y="6272613"/>
            <a:ext cx="121920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2" descr="Odisha Jobs - Vacancy At SOA-University October-2019">
            <a:extLst>
              <a:ext uri="{FF2B5EF4-FFF2-40B4-BE49-F238E27FC236}">
                <a16:creationId xmlns:a16="http://schemas.microsoft.com/office/drawing/2014/main" id="{4DC70011-4D52-E65E-556F-C0F3BEA594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788" y="179300"/>
            <a:ext cx="824171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BB1800-5698-9C32-636A-4C15FADD16AA}"/>
              </a:ext>
            </a:extLst>
          </p:cNvPr>
          <p:cNvCxnSpPr/>
          <p:nvPr userDrawn="1"/>
        </p:nvCxnSpPr>
        <p:spPr>
          <a:xfrm>
            <a:off x="0" y="1091953"/>
            <a:ext cx="1219200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97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2FD6B-8032-4829-B4E8-B5A13942ACB1}" type="datetime1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96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0B156-E9C2-4089-BE8B-039826BBCF49}" type="datetime1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48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A8F2-CEBB-42F2-ABB5-DBEDC54A2724}" type="datetime1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90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DCA7-BC2C-498A-8892-C3DA341BAC80}" type="datetime1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94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F9A9-599A-4B35-AA32-0CE3A73C181A}" type="datetime1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88FD7-AC07-442D-84DA-2C9F324FA9B7}" type="datetime1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56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0739-263C-4AC0-908C-23A0496DBB8C}" type="datetime1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30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3856-92C1-48E2-A678-16485DB25C68}" type="datetime1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78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461-CAE6-476C-8ED6-DBF4B56C1ADD}" type="datetime1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3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554" y="136524"/>
            <a:ext cx="10981678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553" y="1091953"/>
            <a:ext cx="11934547" cy="5085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7553" y="6356349"/>
            <a:ext cx="1198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89DF0-7DAD-40C2-A6C2-6C23C0306B67}" type="datetime1">
              <a:rPr lang="en-IN" smtClean="0"/>
              <a:pPr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82571" y="6356350"/>
            <a:ext cx="9743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9028" y="6356349"/>
            <a:ext cx="7930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B7573-0EEC-4F18-B4D8-B9624EC7F9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3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0005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56832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68421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79851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index.html" TargetMode="External"/><Relationship Id="rId2" Type="http://schemas.openxmlformats.org/officeDocument/2006/relationships/hyperlink" Target="https://docs.ultralytic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datasets/iamsouravbanerjee/animal-image-dataset-90-different-animal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" y="81394"/>
            <a:ext cx="12011025" cy="1423556"/>
          </a:xfrm>
          <a:prstGeom prst="roundRect">
            <a:avLst>
              <a:gd name="adj" fmla="val 7596"/>
            </a:avLst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100" b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Leelawadee" panose="020B0502040204020203"/>
              </a:rPr>
              <a:t>CSE 2794 – Machine Learning Workshop 2</a:t>
            </a:r>
            <a:br>
              <a:rPr lang="en-US" sz="3100" b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Leelawadee" panose="020B0502040204020203"/>
              </a:rPr>
            </a:b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Leelawadee" panose="020B0502040204020203"/>
              </a:rPr>
              <a:t>External Project Presentation</a:t>
            </a:r>
            <a:endParaRPr sz="3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504951"/>
            <a:ext cx="12191999" cy="2167538"/>
          </a:xfrm>
          <a:ln w="9525">
            <a:noFill/>
          </a:ln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Animal Instance Segmentation</a:t>
            </a:r>
          </a:p>
          <a:p>
            <a:r>
              <a:rPr lang="en-US" sz="6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Yolo</a:t>
            </a:r>
            <a:endParaRPr sz="60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1713737" y="3952568"/>
            <a:ext cx="8754999" cy="646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</a:rPr>
              <a:t>Presented by</a:t>
            </a:r>
          </a:p>
        </p:txBody>
      </p:sp>
      <p:sp>
        <p:nvSpPr>
          <p:cNvPr id="6" name="Subtitle 2"/>
          <p:cNvSpPr txBox="1"/>
          <p:nvPr/>
        </p:nvSpPr>
        <p:spPr>
          <a:xfrm>
            <a:off x="1789176" y="5175503"/>
            <a:ext cx="8409432" cy="1147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itle 1"/>
          <p:cNvSpPr txBox="1"/>
          <p:nvPr/>
        </p:nvSpPr>
        <p:spPr>
          <a:xfrm>
            <a:off x="95251" y="5405006"/>
            <a:ext cx="12011024" cy="1371600"/>
          </a:xfrm>
          <a:prstGeom prst="roundRect">
            <a:avLst>
              <a:gd name="adj" fmla="val 8334"/>
            </a:avLst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200" b="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	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Centre for AI &amp;ML, Dept. of Computer Science &amp; Engineering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		Institute of Technical Education &amp; Research (ITER)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cs typeface="Leelawadee" panose="020B0502040204020203"/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		Siksha ‘O’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Anusandhan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 (Deemed to be University), Bhubaneswar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cs typeface="Leelawadee" panose="020B0502040204020203"/>
              </a:rPr>
              <a:t>		January 2026</a:t>
            </a:r>
          </a:p>
        </p:txBody>
      </p:sp>
      <p:pic>
        <p:nvPicPr>
          <p:cNvPr id="4098" name="Picture 2" descr="Odisha Jobs - Vacancy At SOA-University October-20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5497319"/>
            <a:ext cx="1188720" cy="118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F9C08B-0339-B244-EA94-BDA0D0D67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83980"/>
              </p:ext>
            </p:extLst>
          </p:nvPr>
        </p:nvGraphicFramePr>
        <p:xfrm>
          <a:off x="4763" y="4505410"/>
          <a:ext cx="12192000" cy="8534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9268950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933195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437077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1789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Abinash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Bahinipati</a:t>
                      </a:r>
                      <a:endParaRPr lang="en-IN" sz="2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Priyaranjan Dash</a:t>
                      </a:r>
                      <a:endParaRPr lang="en-IN" sz="2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Dhanajaya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Pattnaik</a:t>
                      </a:r>
                      <a:endParaRPr lang="en-IN" sz="2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Pradyush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Ku. Roul</a:t>
                      </a:r>
                      <a:endParaRPr lang="en-IN" sz="24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01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Regd. No: 24E102A05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Regd. No: 24E104B25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Regd. No: 24E116C56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Regd. No: 24E118A99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91824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EB916-E7ED-A44D-867B-0AEA8176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3520-4117-BF7A-0D2F-490C341B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0A18-4857-1D07-52DD-52815F5CD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Problem Context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Dataset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Methods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Results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Key Insights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Conclusion &amp; Future Work</a:t>
            </a:r>
            <a:endParaRPr lang="en-IN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0D5FB-3BF6-2E50-AEAD-B175F113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E7E25-C62F-0C07-6D46-5E7F2420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29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B3B8E-8C50-2437-21D5-43C7A112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4" y="1175688"/>
            <a:ext cx="8248691" cy="5057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Animal instance segmentation is a Computer Vision task that identifies and separates individual animals in an image at the pixel level.</a:t>
            </a:r>
          </a:p>
          <a:p>
            <a:r>
              <a:rPr lang="en-US" dirty="0"/>
              <a:t>It combines </a:t>
            </a:r>
            <a:r>
              <a:rPr lang="en-US" b="1" dirty="0"/>
              <a:t>object detection</a:t>
            </a:r>
            <a:r>
              <a:rPr lang="en-US" dirty="0"/>
              <a:t> and </a:t>
            </a:r>
            <a:r>
              <a:rPr lang="en-US" b="1" dirty="0"/>
              <a:t>image segmentation</a:t>
            </a:r>
            <a:r>
              <a:rPr lang="en-US" dirty="0"/>
              <a:t> to accurately recognize multiple animals even in complex backgrounds.</a:t>
            </a:r>
          </a:p>
          <a:p>
            <a:r>
              <a:rPr lang="en-US" dirty="0"/>
              <a:t>This technology is useful in wildlife monitoring, animal behavior analysis, biodiversity conservation, and smart surveillance systems.</a:t>
            </a:r>
          </a:p>
          <a:p>
            <a:r>
              <a:rPr lang="en-US" dirty="0"/>
              <a:t>In this project, Deep Learning techniques and modern segmentation models were used to detect and segment animals from images efficiently.</a:t>
            </a:r>
          </a:p>
          <a:p>
            <a:r>
              <a:rPr lang="en-US" dirty="0"/>
              <a:t>The goal is to improve accuracy in identifying different animal instances while handling challenges such as overlapping objects, lighting variations, and background noise.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A92275-B0BC-FE0D-7DEE-6425A031C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590" y="1366702"/>
            <a:ext cx="3721509" cy="22183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3F48-3A44-E45D-BAD6-8EE5C607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6FD0A-FF36-53AE-122E-0D24B18D9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Traditional animal monitoring methods are time-consuming and require manual observation. </a:t>
            </a:r>
          </a:p>
          <a:p>
            <a:r>
              <a:rPr lang="en-US" dirty="0"/>
              <a:t>Detecting multiple animals in complex environments is difficult due to overlapping objects, different lighting conditions, and background variations. </a:t>
            </a:r>
          </a:p>
          <a:p>
            <a:r>
              <a:rPr lang="en-US" dirty="0"/>
              <a:t>Existing detection systems often fail to accurately separate individual animals at the pixel level.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10DF0-CABF-870D-60BC-21EADAEF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C6744-8E8F-57C0-FA5D-C709B65E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88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13FA-6F33-E52A-7F03-C5259E71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15317-D886-39DC-4F09-E250D53F6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  <a:p>
            <a:r>
              <a:rPr lang="en-US" dirty="0"/>
              <a:t>To build an AI-based Animal Instance Segmentation system. </a:t>
            </a:r>
          </a:p>
          <a:p>
            <a:r>
              <a:rPr lang="en-US" dirty="0"/>
              <a:t>To accurately detect and segment animals from images. </a:t>
            </a:r>
          </a:p>
          <a:p>
            <a:r>
              <a:rPr lang="en-US" dirty="0"/>
              <a:t>To improve segmentation performance using Deep Learning models. </a:t>
            </a:r>
          </a:p>
          <a:p>
            <a:r>
              <a:rPr lang="en-US" dirty="0"/>
              <a:t>To analyze model accuracy and compare results.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66E1B-A08C-FA03-965F-85485F79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69D664-AC79-2E0F-CFEC-45AF0DD9B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631" y="3612296"/>
            <a:ext cx="4174816" cy="256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1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Dataset Description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850C-80AD-2D6B-B482-16EAB497A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1150374"/>
            <a:ext cx="12013776" cy="495545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project uses the </a:t>
            </a:r>
            <a:r>
              <a:rPr lang="en-GB" b="1" dirty="0"/>
              <a:t>Animal Image Dataset (90 Different Animals)</a:t>
            </a:r>
            <a:r>
              <a:rPr lang="en-GB" dirty="0"/>
              <a:t> collected from Kaggle. </a:t>
            </a:r>
          </a:p>
          <a:p>
            <a:r>
              <a:rPr lang="en-GB" dirty="0"/>
              <a:t>The dataset contains approximately </a:t>
            </a:r>
            <a:r>
              <a:rPr lang="en-GB" b="1" dirty="0"/>
              <a:t>5400 images</a:t>
            </a:r>
            <a:r>
              <a:rPr lang="en-GB" dirty="0"/>
              <a:t> covering </a:t>
            </a:r>
            <a:r>
              <a:rPr lang="en-GB" b="1" dirty="0"/>
              <a:t>90 different animal classes</a:t>
            </a:r>
            <a:r>
              <a:rPr lang="en-GB" dirty="0"/>
              <a:t>. </a:t>
            </a:r>
          </a:p>
          <a:p>
            <a:r>
              <a:rPr lang="en-GB" dirty="0"/>
              <a:t>Each class consists of multiple animal images with different poses, backgrounds, and lighting conditions. </a:t>
            </a:r>
          </a:p>
          <a:p>
            <a:r>
              <a:rPr lang="en-GB" dirty="0"/>
              <a:t>Images are stored in separate folders according to their respective animal categories. </a:t>
            </a:r>
          </a:p>
          <a:p>
            <a:r>
              <a:rPr lang="en-GB" dirty="0"/>
              <a:t>The dataset provides diverse visual features useful for </a:t>
            </a:r>
          </a:p>
          <a:p>
            <a:pPr marL="0" indent="0">
              <a:buNone/>
            </a:pPr>
            <a:r>
              <a:rPr lang="en-GB" dirty="0"/>
              <a:t>    training Deep Learning and Computer Vision models. </a:t>
            </a:r>
          </a:p>
          <a:p>
            <a:r>
              <a:rPr lang="en-GB" dirty="0"/>
              <a:t>It is suitable for tasks such as: </a:t>
            </a:r>
          </a:p>
          <a:p>
            <a:pPr lvl="1"/>
            <a:r>
              <a:rPr lang="en-GB" dirty="0"/>
              <a:t>Image Classification </a:t>
            </a:r>
          </a:p>
          <a:p>
            <a:pPr lvl="1"/>
            <a:r>
              <a:rPr lang="en-GB" dirty="0"/>
              <a:t>Object Detection </a:t>
            </a:r>
          </a:p>
          <a:p>
            <a:pPr lvl="1"/>
            <a:r>
              <a:rPr lang="en-GB" dirty="0"/>
              <a:t>Instance Segmentation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619CA4-05B7-37DB-6A03-F5FD365C5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563" y="3476869"/>
            <a:ext cx="2650114" cy="2628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B0B2-2CCC-6C2A-6621-6694D373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A5C2-3CC9-812A-01E9-D8BC1671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Exploratory Data Analysis (EDA)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BEF2E4-8BBC-2C66-059C-6F4D0530C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5687"/>
            <a:ext cx="12112099" cy="502846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   </a:t>
            </a:r>
            <a:r>
              <a:rPr lang="en-IN" sz="4000" dirty="0"/>
              <a:t>➢</a:t>
            </a:r>
            <a:r>
              <a:rPr lang="en-US" sz="3900" b="1" dirty="0"/>
              <a:t>Exploratory Data Analysis (EDA) Steps:</a:t>
            </a:r>
            <a:endParaRPr lang="en-IN" sz="3900" b="1" dirty="0"/>
          </a:p>
          <a:p>
            <a:r>
              <a:rPr lang="en-IN" b="1" dirty="0"/>
              <a:t>Dataset Overview</a:t>
            </a:r>
            <a:r>
              <a:rPr lang="en-IN" dirty="0">
                <a:solidFill>
                  <a:srgbClr val="0070C0"/>
                </a:solidFill>
              </a:rPr>
              <a:t>: Confirmed total images (300), labels (300), and uniform image shape (224x224x3). Identified unique classes: 'cat', 'dog', 'elephant', 'lion', 'tiger’</a:t>
            </a:r>
            <a:r>
              <a:rPr lang="en-IN" dirty="0"/>
              <a:t>.</a:t>
            </a:r>
          </a:p>
          <a:p>
            <a:r>
              <a:rPr lang="en-US" b="1" dirty="0"/>
              <a:t>RGB Channel Mean Distribution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Plotted average Red, Green, and Blue channel intensities across images to understand color balance.</a:t>
            </a:r>
          </a:p>
          <a:p>
            <a:r>
              <a:rPr lang="en-US" b="1" dirty="0"/>
              <a:t>Brightness Distribution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Analyzed image brightness to understand the overall light/dark characteristics of the dataset.</a:t>
            </a:r>
          </a:p>
          <a:p>
            <a:r>
              <a:rPr lang="en-US" b="1" dirty="0"/>
              <a:t>Aspect Ratio Analysis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Confirmed all images maintain a 1:1 aspect ratio after preprocessing.</a:t>
            </a:r>
          </a:p>
          <a:p>
            <a:r>
              <a:rPr lang="en-US" b="1" dirty="0"/>
              <a:t>Class Distribution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Visualized with a bar plot and pie chart, confirming a perfectly balanced dataset with 60 images (20%) for each of the 5 animal classes.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AC6C6-2D30-CE46-EC87-03535EEF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77143-3057-3AD4-5C32-B0E3B740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118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D6E9-84F9-FF2C-F02D-E4ADFC3F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31995-4659-0DB2-BB16-BB5D138BE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75689"/>
            <a:ext cx="12112100" cy="5001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900" dirty="0"/>
              <a:t>➢</a:t>
            </a:r>
            <a:r>
              <a:rPr lang="en-US" sz="3900" b="1" dirty="0"/>
              <a:t> Exploratory Data Analysis (EDA) Findings:</a:t>
            </a:r>
          </a:p>
          <a:p>
            <a:r>
              <a:rPr lang="en-US" b="1" dirty="0"/>
              <a:t>Balanced Class Distribution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The dataset is perfectly balanced across the 5 selected animal classes (cat, dog, lion, tiger, elephant), with 60 images for each class. This is clearly shown in both the bar chart and the pie chart of class distribution.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US" b="1" dirty="0"/>
              <a:t>Brightness Distribution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The histogram of image brightness shows the spread of average pixel intensity values, indicating the overall lightness or darkness characteristics of the image collection.</a:t>
            </a:r>
          </a:p>
          <a:p>
            <a:r>
              <a:rPr lang="en-US" dirty="0"/>
              <a:t>In summary, the EDA confirms that the dataset is well-prepared with balanced classes and standardized image dimensions, setting a good foundation for model training.</a:t>
            </a: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ABD9D-3743-40B3-EB2C-5BDA5CF2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522B5-70F8-CF99-DCC4-BE48760A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61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68B3-7E3E-A214-9C68-6CB501FD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CCBB8F-C955-2209-FC1F-8DC37581D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237" y="1216948"/>
            <a:ext cx="3679634" cy="223262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53505-23F5-039F-2B07-F38988071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418C-4462-702C-4F60-0E2057FD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CBC7BE-B43C-9B05-BC9B-22728163B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104" y="1167529"/>
            <a:ext cx="4124924" cy="22820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66489E-09BB-92A5-D94C-290622168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65" y="3775441"/>
            <a:ext cx="3636225" cy="24552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8D1E96-7F0A-8377-08E4-31C84D72E3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875"/>
          <a:stretch>
            <a:fillRect/>
          </a:stretch>
        </p:blipFill>
        <p:spPr>
          <a:xfrm>
            <a:off x="1295758" y="3539991"/>
            <a:ext cx="2822335" cy="269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3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34E3-1C8F-745B-7BC6-1F82FC05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8B5C7-AE93-124C-A885-5795BE276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9FED1-46F5-2E04-C19D-FAC93FBD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10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80FE0E8-0482-FB34-4365-8D4802303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554" y="977769"/>
            <a:ext cx="9743218" cy="5238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dirty="0"/>
              <a:t>➢ </a:t>
            </a:r>
            <a:r>
              <a:rPr lang="en-US" b="1" dirty="0"/>
              <a:t>Preprocessing Steps Performed:</a:t>
            </a:r>
          </a:p>
          <a:p>
            <a:r>
              <a:rPr lang="en-US" sz="2400" b="1" dirty="0"/>
              <a:t>Dataset Download</a:t>
            </a:r>
            <a:r>
              <a:rPr lang="en-US" sz="2400" dirty="0"/>
              <a:t>: Downloaded animal image dataset from Kaggle.</a:t>
            </a:r>
          </a:p>
          <a:p>
            <a:r>
              <a:rPr lang="en-US" sz="2400" b="1" dirty="0"/>
              <a:t>Custom Dataset Creation</a:t>
            </a:r>
            <a:r>
              <a:rPr lang="en-US" sz="2400" dirty="0"/>
              <a:t>: Selected 5 specific animal classes (cat, dog, lion, tiger, elephant) and copied a balanced subset of images (60 per class) into a project-specific directory.</a:t>
            </a:r>
          </a:p>
          <a:p>
            <a:r>
              <a:rPr lang="en-US" sz="2400" b="1" dirty="0"/>
              <a:t>Image Loading &amp; Resizing</a:t>
            </a:r>
            <a:r>
              <a:rPr lang="en-US" sz="2400" dirty="0"/>
              <a:t>: Loaded images, skipped corrupted/invalid files, and </a:t>
            </a:r>
            <a:r>
              <a:rPr lang="en-US" sz="2400" b="1" dirty="0"/>
              <a:t>resized all images to a uniform 224x224 pixels</a:t>
            </a:r>
            <a:r>
              <a:rPr lang="en-US" sz="2400" dirty="0"/>
              <a:t>.</a:t>
            </a:r>
          </a:p>
          <a:p>
            <a:r>
              <a:rPr lang="en-US" sz="2400" b="1" dirty="0"/>
              <a:t>Color Conversion</a:t>
            </a:r>
            <a:r>
              <a:rPr lang="en-US" sz="2400" dirty="0"/>
              <a:t>: Converted images from BGR (OpenCV default) to RGB format.</a:t>
            </a:r>
          </a:p>
          <a:p>
            <a:r>
              <a:rPr lang="en-US" sz="2400" b="1" dirty="0"/>
              <a:t>Pixel Normalization</a:t>
            </a:r>
            <a:r>
              <a:rPr lang="en-US" sz="2400" dirty="0"/>
              <a:t>: Scaled pixel values from 0-255 to </a:t>
            </a:r>
            <a:r>
              <a:rPr lang="en-US" sz="2400" b="1" dirty="0"/>
              <a:t>0-1</a:t>
            </a:r>
            <a:r>
              <a:rPr lang="en-US" sz="2400" dirty="0"/>
              <a:t> for model readiness.</a:t>
            </a:r>
          </a:p>
          <a:p>
            <a:r>
              <a:rPr lang="en-US" sz="2400" b="1" dirty="0"/>
              <a:t>Data Structure</a:t>
            </a:r>
            <a:r>
              <a:rPr lang="en-US" sz="2400" dirty="0"/>
              <a:t>: Converted processed images and labels into NumPy arrays.</a:t>
            </a:r>
          </a:p>
        </p:txBody>
      </p:sp>
    </p:spTree>
    <p:extLst>
      <p:ext uri="{BB962C8B-B14F-4D97-AF65-F5344CB8AC3E}">
        <p14:creationId xmlns:p14="http://schemas.microsoft.com/office/powerpoint/2010/main" val="214329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0B36-145D-77DB-A57A-01BA0510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B3549-795D-5849-81CB-C6A021FD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FC6C0-A894-B760-3354-3CBAA17E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11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78C002-81CD-5454-FDB8-A89AD1B43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6" y="1384618"/>
            <a:ext cx="6302039" cy="45117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F80C7B-A6DE-73F6-4C7E-8DD30CD42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742" y="1384617"/>
            <a:ext cx="5195705" cy="435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86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E74AD-6BDB-04CE-F67E-3A83B93F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F1AC-63AA-0BD7-ACF1-B8C486BF6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Baseline models</a:t>
            </a:r>
          </a:p>
          <a:p>
            <a:r>
              <a:rPr lang="en-IN" dirty="0"/>
              <a:t>Traditional Image Processing Techniques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Edge Detection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Contour Detection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Thresholding</a:t>
            </a:r>
            <a:r>
              <a:rPr lang="en-IN" dirty="0"/>
              <a:t> </a:t>
            </a:r>
          </a:p>
          <a:p>
            <a:r>
              <a:rPr lang="en-IN" dirty="0"/>
              <a:t>Faster R-CNN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Region-based object detection model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High detection accuracy </a:t>
            </a:r>
          </a:p>
          <a:p>
            <a:r>
              <a:rPr lang="en-IN" dirty="0"/>
              <a:t>Mask R-CNN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Instance segmentation model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Generates pixel-level object masks</a:t>
            </a:r>
            <a:r>
              <a:rPr lang="en-IN" dirty="0"/>
              <a:t> </a:t>
            </a:r>
          </a:p>
          <a:p>
            <a:r>
              <a:rPr lang="en-IN" dirty="0"/>
              <a:t>YOLOv8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Real-time object detection and segmentation model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Fast and accurate performance </a:t>
            </a:r>
          </a:p>
          <a:p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08DC1-061E-8847-DF47-824F9D66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A52E4-8F8B-C137-DAD4-8CF96AA2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33D966-F18C-8339-969C-45F510A01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034" y="1325465"/>
            <a:ext cx="5213413" cy="420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3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8A81-910A-390C-8262-4CD725654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3EDB-C312-9CA5-5F11-4C4A1A60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1A8EB-F1E5-EA7E-0C68-BCF864A6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E7C71-460B-320D-D29F-ACDFD694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13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609E39-5C93-F7A7-FCA1-BD9CD278F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5613"/>
            <a:ext cx="12192000" cy="454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9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7984-3F5F-6ED0-D9B7-5400D11C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877A-FF09-D811-CB5F-11C3C3FD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011B4-41DB-C42F-3F35-ED0E0E724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200" b="1" dirty="0"/>
              <a:t>Candidate algorithms</a:t>
            </a:r>
          </a:p>
          <a:p>
            <a:r>
              <a:rPr lang="en-GB" dirty="0">
                <a:solidFill>
                  <a:srgbClr val="0070C0"/>
                </a:solidFill>
              </a:rPr>
              <a:t>Traditional Image Processing techniques were explored for basic object extraction using edge and contour detection. </a:t>
            </a:r>
          </a:p>
          <a:p>
            <a:r>
              <a:rPr lang="en-GB" dirty="0">
                <a:solidFill>
                  <a:srgbClr val="0070C0"/>
                </a:solidFill>
              </a:rPr>
              <a:t>Faster R-CNN was considered for accurate object detection using region proposal networks. </a:t>
            </a:r>
          </a:p>
          <a:p>
            <a:r>
              <a:rPr lang="en-GB" dirty="0">
                <a:solidFill>
                  <a:srgbClr val="0070C0"/>
                </a:solidFill>
              </a:rPr>
              <a:t>Mask R-CNN was </a:t>
            </a:r>
            <a:r>
              <a:rPr lang="en-GB" dirty="0" err="1">
                <a:solidFill>
                  <a:srgbClr val="0070C0"/>
                </a:solidFill>
              </a:rPr>
              <a:t>analyzed</a:t>
            </a:r>
            <a:r>
              <a:rPr lang="en-GB" dirty="0">
                <a:solidFill>
                  <a:srgbClr val="0070C0"/>
                </a:solidFill>
              </a:rPr>
              <a:t> for pixel-level instance segmentation of animals. </a:t>
            </a:r>
          </a:p>
          <a:p>
            <a:r>
              <a:rPr lang="en-GB" dirty="0">
                <a:solidFill>
                  <a:srgbClr val="0070C0"/>
                </a:solidFill>
              </a:rPr>
              <a:t>YOLOv8 was selected for real-time object detection and segmentation. </a:t>
            </a:r>
          </a:p>
          <a:p>
            <a:r>
              <a:rPr lang="en-GB" dirty="0">
                <a:solidFill>
                  <a:srgbClr val="0070C0"/>
                </a:solidFill>
              </a:rPr>
              <a:t>YOLOv8 provided better balance between speed, accuracy, and computational efficiency. </a:t>
            </a:r>
          </a:p>
          <a:p>
            <a:r>
              <a:rPr lang="en-GB" dirty="0">
                <a:solidFill>
                  <a:srgbClr val="0070C0"/>
                </a:solidFill>
              </a:rPr>
              <a:t>The selected model supports both bounding box detection and instance segmentation tasks. </a:t>
            </a:r>
          </a:p>
          <a:p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81064-3430-3E43-036B-6DF951B6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563F-3135-7318-7158-F32F30A0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4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17C4-B791-E96E-F94F-C1CDDF3F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3CA93-C124-A4F5-D558-A4EA164D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4D50D-7363-F907-9B90-03D33CF9A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3400" b="1" dirty="0"/>
              <a:t>Rationale for selection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Why YOLOv8 Was Selected as the Final Model</a:t>
            </a:r>
          </a:p>
          <a:p>
            <a:pPr marL="0" indent="0">
              <a:buNone/>
            </a:pPr>
            <a:r>
              <a:rPr lang="en-GB" b="1" dirty="0"/>
              <a:t>1. Real-Time Detection Capability</a:t>
            </a:r>
          </a:p>
          <a:p>
            <a:r>
              <a:rPr lang="en-GB" dirty="0">
                <a:solidFill>
                  <a:srgbClr val="0070C0"/>
                </a:solidFill>
              </a:rPr>
              <a:t>YOLOv8 performs object detection and segmentation in real time </a:t>
            </a:r>
          </a:p>
          <a:p>
            <a:r>
              <a:rPr lang="en-GB" dirty="0">
                <a:solidFill>
                  <a:srgbClr val="0070C0"/>
                </a:solidFill>
              </a:rPr>
              <a:t>Provides faster inference speed compared to Faster R-CNN and Mask R-CNN </a:t>
            </a:r>
          </a:p>
          <a:p>
            <a:pPr marL="0" indent="0">
              <a:buNone/>
            </a:pPr>
            <a:r>
              <a:rPr lang="en-GB" b="1" dirty="0"/>
              <a:t>2. High Detection Accuracy</a:t>
            </a:r>
          </a:p>
          <a:p>
            <a:r>
              <a:rPr lang="en-GB" dirty="0">
                <a:solidFill>
                  <a:srgbClr val="0070C0"/>
                </a:solidFill>
              </a:rPr>
              <a:t>Achieved strong performance in animal detection and localization </a:t>
            </a:r>
          </a:p>
          <a:p>
            <a:r>
              <a:rPr lang="en-GB" dirty="0">
                <a:solidFill>
                  <a:srgbClr val="0070C0"/>
                </a:solidFill>
              </a:rPr>
              <a:t>Produced accurate bounding boxes and segmentation outputs </a:t>
            </a:r>
          </a:p>
          <a:p>
            <a:pPr marL="0" indent="0">
              <a:buNone/>
            </a:pPr>
            <a:r>
              <a:rPr lang="en-GB" b="1" dirty="0"/>
              <a:t>3. Efficient Training and Optimization</a:t>
            </a:r>
          </a:p>
          <a:p>
            <a:r>
              <a:rPr lang="en-GB" dirty="0">
                <a:solidFill>
                  <a:srgbClr val="0070C0"/>
                </a:solidFill>
              </a:rPr>
              <a:t>Required less training time and computational resources </a:t>
            </a:r>
          </a:p>
          <a:p>
            <a:r>
              <a:rPr lang="en-GB" dirty="0">
                <a:solidFill>
                  <a:srgbClr val="0070C0"/>
                </a:solidFill>
              </a:rPr>
              <a:t>Easy to optimize using pretrained weights and transfer learning </a:t>
            </a:r>
          </a:p>
          <a:p>
            <a:pPr marL="0" indent="0">
              <a:buNone/>
            </a:pPr>
            <a:r>
              <a:rPr lang="en-GB" b="1" dirty="0"/>
              <a:t>4. Multi-Object Detection and Deployment</a:t>
            </a:r>
          </a:p>
          <a:p>
            <a:r>
              <a:rPr lang="en-GB" dirty="0">
                <a:solidFill>
                  <a:srgbClr val="0070C0"/>
                </a:solidFill>
              </a:rPr>
              <a:t>Efficiently detects multiple animals within a single image </a:t>
            </a:r>
          </a:p>
          <a:p>
            <a:r>
              <a:rPr lang="en-GB" dirty="0">
                <a:solidFill>
                  <a:srgbClr val="0070C0"/>
                </a:solidFill>
              </a:rPr>
              <a:t>Suitable for real-time surveillance and wildlife monitoring applications </a:t>
            </a:r>
            <a:br>
              <a:rPr lang="en-GB" dirty="0"/>
            </a:br>
            <a:endParaRPr lang="en-GB" dirty="0"/>
          </a:p>
          <a:p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08311-9D1F-EB6B-22AD-E3657BD4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12C4F-D320-FF9E-6417-01C2D806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478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904C-5A1E-A525-6875-D9AB56B5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Hyperparameters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7F59DCB-D949-4692-7653-9A7FCCC4E7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612625"/>
              </p:ext>
            </p:extLst>
          </p:nvPr>
        </p:nvGraphicFramePr>
        <p:xfrm>
          <a:off x="177800" y="1176338"/>
          <a:ext cx="1193482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3706">
                  <a:extLst>
                    <a:ext uri="{9D8B030D-6E8A-4147-A177-3AD203B41FA5}">
                      <a16:colId xmlns:a16="http://schemas.microsoft.com/office/drawing/2014/main" val="698021593"/>
                    </a:ext>
                  </a:extLst>
                </a:gridCol>
                <a:gridCol w="2983706">
                  <a:extLst>
                    <a:ext uri="{9D8B030D-6E8A-4147-A177-3AD203B41FA5}">
                      <a16:colId xmlns:a16="http://schemas.microsoft.com/office/drawing/2014/main" val="4222924669"/>
                    </a:ext>
                  </a:extLst>
                </a:gridCol>
                <a:gridCol w="2983706">
                  <a:extLst>
                    <a:ext uri="{9D8B030D-6E8A-4147-A177-3AD203B41FA5}">
                      <a16:colId xmlns:a16="http://schemas.microsoft.com/office/drawing/2014/main" val="4156554185"/>
                    </a:ext>
                  </a:extLst>
                </a:gridCol>
                <a:gridCol w="2983706">
                  <a:extLst>
                    <a:ext uri="{9D8B030D-6E8A-4147-A177-3AD203B41FA5}">
                      <a16:colId xmlns:a16="http://schemas.microsoft.com/office/drawing/2014/main" val="3319102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Initial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Hyperparameter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YOLOv8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82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30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640 × 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640 × 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640 × 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954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8, 16 Tested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208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82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0.0100, 0.001, 0.0001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030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21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Confidence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43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IoU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09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Flip, Rotation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Flip, Rotation, Scaling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Enhanced Augmentation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82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80/20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01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Colab 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Colab 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Colab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96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82.2%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42685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4E6CC-4D2E-8FA6-3223-A3BEDA11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CB518-F0EB-3EE1-A28E-C0BBC008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7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0CAA-76C2-BFD5-86DF-8BD2D903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ACFF7-E2D4-C5FA-23BE-A1B61AD39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table represents the training configuration and hyperparameter settings used for the YOLOv8 model. </a:t>
            </a:r>
          </a:p>
          <a:p>
            <a:r>
              <a:rPr lang="en-GB" dirty="0"/>
              <a:t>Different learning rates and batch sizes were tested during the hyperparameter tuning phase. </a:t>
            </a:r>
          </a:p>
          <a:p>
            <a:r>
              <a:rPr lang="en-GB" dirty="0" err="1"/>
              <a:t>AdamW</a:t>
            </a:r>
            <a:r>
              <a:rPr lang="en-GB" dirty="0"/>
              <a:t> optimizer was used to improve training stability and convergence. </a:t>
            </a:r>
          </a:p>
          <a:p>
            <a:r>
              <a:rPr lang="en-GB" dirty="0"/>
              <a:t>Data augmentation techniques such as flipping, rotation, and scaling were applied to improve model generalization. </a:t>
            </a:r>
          </a:p>
          <a:p>
            <a:r>
              <a:rPr lang="en-GB" dirty="0"/>
              <a:t>The final configuration achieved improved detection accuracy with better mAP@50 performance. </a:t>
            </a:r>
          </a:p>
          <a:p>
            <a:r>
              <a:rPr lang="en-GB" dirty="0"/>
              <a:t>Hyperparameter tuning helped optimize the overall efficiency and performance of the animal detection model. 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77097-604F-DAC0-ABCF-94759198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3215D-27EE-1D97-5096-621C98BC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78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2E9A-3633-33E1-8CD3-33AA7423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66E4-D12A-6325-B5A9-5E0A93055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8D774-60C2-B839-5E64-A6E0550DA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" y="1160442"/>
            <a:ext cx="11934547" cy="5001274"/>
          </a:xfrm>
        </p:spPr>
        <p:txBody>
          <a:bodyPr>
            <a:normAutofit fontScale="62500" lnSpcReduction="20000"/>
          </a:bodyPr>
          <a:lstStyle/>
          <a:p>
            <a:r>
              <a:rPr lang="en-GB" sz="3800" b="1" dirty="0"/>
              <a:t>mAP@50</a:t>
            </a:r>
          </a:p>
          <a:p>
            <a:r>
              <a:rPr lang="en-GB" sz="3400" dirty="0">
                <a:solidFill>
                  <a:srgbClr val="0070C0"/>
                </a:solidFill>
              </a:rPr>
              <a:t>Mean Average Precision at </a:t>
            </a:r>
            <a:r>
              <a:rPr lang="en-GB" sz="3400" dirty="0" err="1">
                <a:solidFill>
                  <a:srgbClr val="0070C0"/>
                </a:solidFill>
              </a:rPr>
              <a:t>IoU</a:t>
            </a:r>
            <a:r>
              <a:rPr lang="en-GB" sz="3400" dirty="0">
                <a:solidFill>
                  <a:srgbClr val="0070C0"/>
                </a:solidFill>
              </a:rPr>
              <a:t> threshold 0.50 </a:t>
            </a:r>
          </a:p>
          <a:p>
            <a:r>
              <a:rPr lang="en-GB" sz="3400" dirty="0">
                <a:solidFill>
                  <a:srgbClr val="0070C0"/>
                </a:solidFill>
              </a:rPr>
              <a:t>Measures overall object detection accuracy of the model </a:t>
            </a:r>
          </a:p>
          <a:p>
            <a:r>
              <a:rPr lang="en-GB" sz="3400" dirty="0">
                <a:solidFill>
                  <a:srgbClr val="0070C0"/>
                </a:solidFill>
              </a:rPr>
              <a:t>Higher mAP@50 indicates better detection performance </a:t>
            </a:r>
          </a:p>
          <a:p>
            <a:pPr marL="0" indent="0">
              <a:buNone/>
            </a:pPr>
            <a:endParaRPr lang="en-GB" sz="3400" dirty="0"/>
          </a:p>
          <a:p>
            <a:r>
              <a:rPr lang="en-GB" sz="3800" b="1" dirty="0"/>
              <a:t>mAP@50-95</a:t>
            </a:r>
          </a:p>
          <a:p>
            <a:r>
              <a:rPr lang="en-GB" sz="3400" dirty="0">
                <a:solidFill>
                  <a:srgbClr val="0070C0"/>
                </a:solidFill>
              </a:rPr>
              <a:t>Mean Average Precision calculated across multiple </a:t>
            </a:r>
            <a:r>
              <a:rPr lang="en-GB" sz="3400" dirty="0" err="1">
                <a:solidFill>
                  <a:srgbClr val="0070C0"/>
                </a:solidFill>
              </a:rPr>
              <a:t>IoU</a:t>
            </a:r>
            <a:r>
              <a:rPr lang="en-GB" sz="3400" dirty="0">
                <a:solidFill>
                  <a:srgbClr val="0070C0"/>
                </a:solidFill>
              </a:rPr>
              <a:t> thresholds from 0.50 to 0.95 </a:t>
            </a:r>
          </a:p>
          <a:p>
            <a:r>
              <a:rPr lang="en-GB" sz="3400" dirty="0">
                <a:solidFill>
                  <a:srgbClr val="0070C0"/>
                </a:solidFill>
              </a:rPr>
              <a:t>Provides a more comprehensive evaluation of model performance </a:t>
            </a:r>
          </a:p>
          <a:p>
            <a:r>
              <a:rPr lang="en-GB" sz="3400" dirty="0">
                <a:solidFill>
                  <a:srgbClr val="0070C0"/>
                </a:solidFill>
              </a:rPr>
              <a:t>Higher values indicate robust and consistent detection accuracy </a:t>
            </a:r>
          </a:p>
          <a:p>
            <a:pPr marL="0" indent="0">
              <a:buNone/>
            </a:pPr>
            <a:endParaRPr lang="en-GB" sz="3400" dirty="0"/>
          </a:p>
          <a:p>
            <a:r>
              <a:rPr lang="en-GB" sz="3800" b="1" dirty="0"/>
              <a:t>Precision</a:t>
            </a:r>
          </a:p>
          <a:p>
            <a:r>
              <a:rPr lang="en-GB" sz="3400" dirty="0">
                <a:solidFill>
                  <a:srgbClr val="0070C0"/>
                </a:solidFill>
              </a:rPr>
              <a:t>Measures the correctness of predicted detections </a:t>
            </a:r>
          </a:p>
          <a:p>
            <a:r>
              <a:rPr lang="en-GB" sz="3400" dirty="0">
                <a:solidFill>
                  <a:srgbClr val="0070C0"/>
                </a:solidFill>
              </a:rPr>
              <a:t>Calculated as the ratio of true positive detections to total predicted detections </a:t>
            </a:r>
          </a:p>
          <a:p>
            <a:r>
              <a:rPr lang="en-GB" sz="3400" dirty="0">
                <a:solidFill>
                  <a:srgbClr val="0070C0"/>
                </a:solidFill>
              </a:rPr>
              <a:t>High precision means fewer false positive predictions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E8DE-41E5-ADF9-9AA1-92F76C81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23C9F-C9C2-74FC-5269-2C566BC0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301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2AEE-ABEF-4880-D3FF-F4419E25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579A-06BB-2778-D264-E095C5CE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CCB60-7556-98B5-7C2A-32E1D7D4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Recall</a:t>
            </a:r>
          </a:p>
          <a:p>
            <a:r>
              <a:rPr lang="en-GB" sz="2100" dirty="0">
                <a:solidFill>
                  <a:srgbClr val="0070C0"/>
                </a:solidFill>
              </a:rPr>
              <a:t>Measures the ability of the model to detect actual objects present in the image </a:t>
            </a:r>
          </a:p>
          <a:p>
            <a:r>
              <a:rPr lang="en-GB" sz="2100" dirty="0">
                <a:solidFill>
                  <a:srgbClr val="0070C0"/>
                </a:solidFill>
              </a:rPr>
              <a:t>Calculated as the ratio of true positive detections to total actual objects </a:t>
            </a:r>
          </a:p>
          <a:p>
            <a:r>
              <a:rPr lang="en-GB" sz="2100" dirty="0">
                <a:solidFill>
                  <a:srgbClr val="0070C0"/>
                </a:solidFill>
              </a:rPr>
              <a:t>High recall indicates fewer missed detections 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dirty="0" err="1"/>
              <a:t>IoU</a:t>
            </a:r>
            <a:r>
              <a:rPr lang="en-GB" sz="2400" b="1" dirty="0"/>
              <a:t> (Intersection over Union)</a:t>
            </a:r>
          </a:p>
          <a:p>
            <a:r>
              <a:rPr lang="en-GB" sz="2100" dirty="0">
                <a:solidFill>
                  <a:srgbClr val="0070C0"/>
                </a:solidFill>
              </a:rPr>
              <a:t>Measures the overlap between predicted bounding boxes and ground truth boxes </a:t>
            </a:r>
          </a:p>
          <a:p>
            <a:r>
              <a:rPr lang="en-GB" sz="2100" dirty="0">
                <a:solidFill>
                  <a:srgbClr val="0070C0"/>
                </a:solidFill>
              </a:rPr>
              <a:t>Calculated as the ratio of overlapping area to total combined area </a:t>
            </a:r>
          </a:p>
          <a:p>
            <a:r>
              <a:rPr lang="en-GB" sz="2100" dirty="0">
                <a:solidFill>
                  <a:srgbClr val="0070C0"/>
                </a:solidFill>
              </a:rPr>
              <a:t>Higher </a:t>
            </a:r>
            <a:r>
              <a:rPr lang="en-GB" sz="2100" dirty="0" err="1">
                <a:solidFill>
                  <a:srgbClr val="0070C0"/>
                </a:solidFill>
              </a:rPr>
              <a:t>IoU</a:t>
            </a:r>
            <a:r>
              <a:rPr lang="en-GB" sz="2100" dirty="0">
                <a:solidFill>
                  <a:srgbClr val="0070C0"/>
                </a:solidFill>
              </a:rPr>
              <a:t> values indicate more accurate object localization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12A0B-6FE3-76B9-32FC-F508939A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3758F-D16C-4F21-7714-F13D8521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317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454B-C4D8-3DC9-83D5-6ED3D571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B3CC-2BDA-D2AB-8423-F82A0E24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A540F5-679F-D733-DEF0-13A701F7C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964" y="1188354"/>
            <a:ext cx="7612858" cy="478555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79B8D-B943-D883-B12B-2CC42333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C91C6-CAA9-5904-974C-0CBF22EB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62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683A-4ABE-8E41-8D7F-30C41471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Comparisons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81E90C-EB6B-3F2A-F2CB-8B60A543A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54" y="2082761"/>
            <a:ext cx="6854168" cy="324632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5A8A-A33C-DD45-0EA3-129F9876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47FA9-B72C-28A0-EF8D-384FEA4C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21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95985A-E75F-DB1D-F0ED-E4D1F9C5C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866294"/>
            <a:ext cx="5192648" cy="331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4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D0A1C-2023-5C83-87F8-0840C23F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1F33-DC7F-43C1-365E-83A0B6C1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F952-550F-44DF-B4C6-40220EDBF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600" dirty="0"/>
              <a:t>YOLOv8 achieved the highest overall detection accuracy among all tested models. </a:t>
            </a:r>
          </a:p>
          <a:p>
            <a:r>
              <a:rPr lang="en-GB" sz="2600" dirty="0"/>
              <a:t>The model successfully detected multiple animals with accurate bounding boxes and segmentation outputs. </a:t>
            </a:r>
          </a:p>
          <a:p>
            <a:r>
              <a:rPr lang="en-GB" sz="2600" dirty="0"/>
              <a:t>Faster R-CNN provided good localization performance but required higher processing time. </a:t>
            </a:r>
          </a:p>
          <a:p>
            <a:r>
              <a:rPr lang="en-GB" sz="2600" dirty="0"/>
              <a:t>Mask R-CNN generated detailed segmentation masks with increased computational complexity. </a:t>
            </a:r>
          </a:p>
          <a:p>
            <a:r>
              <a:rPr lang="en-GB" sz="2600" dirty="0"/>
              <a:t>Traditional image processing techniques showed lower performance in complex backgrounds. </a:t>
            </a:r>
          </a:p>
          <a:p>
            <a:r>
              <a:rPr lang="en-GB" sz="2600" dirty="0"/>
              <a:t>Hyperparameter tuning improved model convergence and detection efficiency. </a:t>
            </a:r>
          </a:p>
          <a:p>
            <a:r>
              <a:rPr lang="en-GB" sz="2600" dirty="0"/>
              <a:t>Experimental results demonstrated that Deep Learning models significantly outperformed traditional methods. </a:t>
            </a:r>
          </a:p>
          <a:p>
            <a:r>
              <a:rPr lang="en-GB" sz="2600" dirty="0"/>
              <a:t>YOLOv8 provided the best balance between speed, accuracy, and real-time performance for animal detection tasks. 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17EB-B2B2-995B-7C79-CC4772BC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96DF-2C27-1332-D3ED-7ADFD155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322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05FBE-E758-6691-930E-EEF765F56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An AI-based animal instance segmentation system was successfully developed using YOLOv8. </a:t>
            </a:r>
          </a:p>
          <a:p>
            <a:r>
              <a:rPr lang="en-GB" dirty="0"/>
              <a:t>The model effectively detected and segmented animals from images with good accuracy. </a:t>
            </a:r>
          </a:p>
          <a:p>
            <a:r>
              <a:rPr lang="en-GB" dirty="0"/>
              <a:t>Data preprocessing, augmentation, and hyperparameter tuning improved model performance. </a:t>
            </a:r>
          </a:p>
          <a:p>
            <a:r>
              <a:rPr lang="en-GB" dirty="0"/>
              <a:t>YOLOv8 achieved better speed and efficiency compared to traditional detection approaches. </a:t>
            </a:r>
          </a:p>
          <a:p>
            <a:r>
              <a:rPr lang="en-GB" dirty="0"/>
              <a:t>Experimental analysis demonstrated the effectiveness of Deep Learning for wildlife monitoring applications. </a:t>
            </a:r>
          </a:p>
          <a:p>
            <a:r>
              <a:rPr lang="en-GB" dirty="0"/>
              <a:t>Future work can include training on larger annotated datasets for improved accuracy. </a:t>
            </a:r>
          </a:p>
          <a:p>
            <a:r>
              <a:rPr lang="en-GB" dirty="0"/>
              <a:t>Advanced segmentation models and real-time video processing can also be integrated. </a:t>
            </a:r>
          </a:p>
          <a:p>
            <a:r>
              <a:rPr lang="en-GB" dirty="0"/>
              <a:t>The system can be extended for smart surveillance, biodiversity conservation, and animal </a:t>
            </a:r>
            <a:r>
              <a:rPr lang="en-GB" dirty="0" err="1"/>
              <a:t>behavior</a:t>
            </a:r>
            <a:r>
              <a:rPr lang="en-GB" dirty="0"/>
              <a:t> analysis. 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C5E4-3ACC-6419-4303-AB1331DC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E67A-CD7B-C4B0-CC4D-22CB9FE1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32EF-F045-ED14-A3DC-2F292CE3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3400" dirty="0"/>
              <a:t>[1] J. </a:t>
            </a:r>
            <a:r>
              <a:rPr lang="en-IN" sz="3400" dirty="0" err="1"/>
              <a:t>Jocher</a:t>
            </a:r>
            <a:r>
              <a:rPr lang="en-IN" sz="3400" dirty="0"/>
              <a:t>, “</a:t>
            </a:r>
            <a:r>
              <a:rPr lang="en-IN" sz="3400" dirty="0" err="1"/>
              <a:t>Ultralytics</a:t>
            </a:r>
            <a:r>
              <a:rPr lang="en-IN" sz="3400" dirty="0"/>
              <a:t> YOLOv8 Documentation,” </a:t>
            </a:r>
            <a:r>
              <a:rPr lang="en-IN" sz="3400" dirty="0" err="1"/>
              <a:t>Ultralytics</a:t>
            </a:r>
            <a:r>
              <a:rPr lang="en-IN" sz="3400" dirty="0"/>
              <a:t>, 2026. [Online]. Available: </a:t>
            </a:r>
            <a:r>
              <a:rPr lang="en-IN" sz="3400" dirty="0">
                <a:hlinkClick r:id="rId2"/>
              </a:rPr>
              <a:t>https://docs.ultralytics.com</a:t>
            </a:r>
            <a:endParaRPr lang="en-IN" sz="3400" dirty="0"/>
          </a:p>
          <a:p>
            <a:r>
              <a:rPr lang="en-IN" sz="3400" dirty="0"/>
              <a:t>[2] </a:t>
            </a:r>
            <a:r>
              <a:rPr lang="en-IN" sz="3400" dirty="0" err="1"/>
              <a:t>PyTorch</a:t>
            </a:r>
            <a:r>
              <a:rPr lang="en-IN" sz="3400" dirty="0"/>
              <a:t> Team, “</a:t>
            </a:r>
            <a:r>
              <a:rPr lang="en-IN" sz="3400" dirty="0" err="1"/>
              <a:t>PyTorch</a:t>
            </a:r>
            <a:r>
              <a:rPr lang="en-IN" sz="3400" dirty="0"/>
              <a:t> Documentation,” </a:t>
            </a:r>
            <a:r>
              <a:rPr lang="en-IN" sz="3400" dirty="0" err="1"/>
              <a:t>PyTorch</a:t>
            </a:r>
            <a:r>
              <a:rPr lang="en-IN" sz="3400" dirty="0"/>
              <a:t>, 2026. [Online]. Available: </a:t>
            </a:r>
            <a:r>
              <a:rPr lang="en-IN" sz="3400" dirty="0">
                <a:hlinkClick r:id="rId3"/>
              </a:rPr>
              <a:t>https://pytorch.org/docs/stable/index.html</a:t>
            </a:r>
            <a:endParaRPr lang="en-IN" sz="3400" dirty="0"/>
          </a:p>
          <a:p>
            <a:r>
              <a:rPr lang="en-IN" sz="3400" dirty="0"/>
              <a:t>[3] OpenCV Team, “OpenCV Documentation,” OpenCV, 2026. [Online]. Available: https://docs.opencv.org</a:t>
            </a:r>
          </a:p>
          <a:p>
            <a:r>
              <a:rPr lang="en-IN" sz="3400" dirty="0"/>
              <a:t>[4] S. Banerjee, “Animal Image Dataset (90 Different Animals),” Kaggle, 2026. [Online]. Available: </a:t>
            </a:r>
            <a:r>
              <a:rPr lang="en-IN" sz="3400" dirty="0">
                <a:hlinkClick r:id="rId4"/>
              </a:rPr>
              <a:t>https://www.kaggle.com/datasets/iamsouravbanerjee/animal-image-dataset-90-different-animals</a:t>
            </a:r>
            <a:endParaRPr lang="en-IN" sz="3400" dirty="0"/>
          </a:p>
          <a:p>
            <a:r>
              <a:rPr lang="en-IN" sz="3400" dirty="0"/>
              <a:t>[5] Google Research, “Google </a:t>
            </a:r>
            <a:r>
              <a:rPr lang="en-IN" sz="3400" dirty="0" err="1"/>
              <a:t>Colaboratory</a:t>
            </a:r>
            <a:r>
              <a:rPr lang="en-IN" sz="3400" dirty="0"/>
              <a:t>,” Google, 2026. [Online]. Available: </a:t>
            </a:r>
            <a:r>
              <a:rPr lang="en-IN" sz="3400" dirty="0">
                <a:hlinkClick r:id="rId5"/>
              </a:rPr>
              <a:t>https://colab.research.google.com</a:t>
            </a:r>
            <a:endParaRPr lang="en-IN" sz="3400" dirty="0"/>
          </a:p>
          <a:p>
            <a:r>
              <a:rPr lang="en-IN" sz="3400" dirty="0"/>
              <a:t>[6] R. </a:t>
            </a:r>
            <a:r>
              <a:rPr lang="en-IN" sz="3400" dirty="0" err="1"/>
              <a:t>Girshick</a:t>
            </a:r>
            <a:r>
              <a:rPr lang="en-IN" sz="3400" dirty="0"/>
              <a:t>, “Fast R-CNN,” in </a:t>
            </a:r>
            <a:r>
              <a:rPr lang="en-IN" sz="3400" i="1" dirty="0"/>
              <a:t>Proceedings of the IEEE International Conference on Computer Vision (ICCV)</a:t>
            </a:r>
            <a:r>
              <a:rPr lang="en-IN" sz="3400" dirty="0"/>
              <a:t>, 2015, pp. 1440–1448.</a:t>
            </a:r>
          </a:p>
          <a:p>
            <a:r>
              <a:rPr lang="en-IN" sz="3400" dirty="0"/>
              <a:t>[7] S. Ren, K. He, R. </a:t>
            </a:r>
            <a:r>
              <a:rPr lang="en-IN" sz="3400" dirty="0" err="1"/>
              <a:t>Girshick</a:t>
            </a:r>
            <a:r>
              <a:rPr lang="en-IN" sz="3400" dirty="0"/>
              <a:t>, and J. Sun, “Faster R-CNN: Towards Real-Time Object Detection with Region Proposal Networks,” </a:t>
            </a:r>
            <a:r>
              <a:rPr lang="en-IN" sz="3400" i="1" dirty="0"/>
              <a:t>IEEE Transactions on Pattern Analysis and Machine Intelligence</a:t>
            </a:r>
            <a:r>
              <a:rPr lang="en-IN" sz="3400" dirty="0"/>
              <a:t>, vol. 39, no. 6, pp. 1137–1149, 2017.</a:t>
            </a:r>
          </a:p>
          <a:p>
            <a:r>
              <a:rPr lang="en-IN" sz="3400" dirty="0"/>
              <a:t>[8] K. He, G. </a:t>
            </a:r>
            <a:r>
              <a:rPr lang="en-IN" sz="3400" dirty="0" err="1"/>
              <a:t>Gkioxari</a:t>
            </a:r>
            <a:r>
              <a:rPr lang="en-IN" sz="3400" dirty="0"/>
              <a:t>, P. </a:t>
            </a:r>
            <a:r>
              <a:rPr lang="en-IN" sz="3400" dirty="0" err="1"/>
              <a:t>Dollár</a:t>
            </a:r>
            <a:r>
              <a:rPr lang="en-IN" sz="3400" dirty="0"/>
              <a:t>, and R. </a:t>
            </a:r>
            <a:r>
              <a:rPr lang="en-IN" sz="3400" dirty="0" err="1"/>
              <a:t>Girshick</a:t>
            </a:r>
            <a:r>
              <a:rPr lang="en-IN" sz="3400" dirty="0"/>
              <a:t>, “Mask R-CNN,” in </a:t>
            </a:r>
            <a:r>
              <a:rPr lang="en-IN" sz="3400" i="1" dirty="0"/>
              <a:t>Proceedings of the IEEE International Conference on Computer Vision (ICCV)</a:t>
            </a:r>
            <a:r>
              <a:rPr lang="en-IN" sz="3400" dirty="0"/>
              <a:t>, 2017, pp. 2961–2969.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6706-3F98-6E04-778B-C1A5E61F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711E4-C38D-E01F-15C6-99FCA5FA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116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10A4-639D-4F22-9C5D-BDE292E1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pic>
        <p:nvPicPr>
          <p:cNvPr id="3076" name="Picture 4" descr="any question - Masaka.luxiarweddingphoto.com">
            <a:extLst>
              <a:ext uri="{FF2B5EF4-FFF2-40B4-BE49-F238E27FC236}">
                <a16:creationId xmlns:a16="http://schemas.microsoft.com/office/drawing/2014/main" id="{6053F465-F367-AD8D-51C1-E0ECA41B80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291" y="1402806"/>
            <a:ext cx="6111417" cy="45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C3D76-6985-425F-8101-B931A0AB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29264-98AF-4446-AC64-007FC86D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814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ute Thank You. Black Vector. Wish For You. Red Color Illustration On ...">
            <a:extLst>
              <a:ext uri="{FF2B5EF4-FFF2-40B4-BE49-F238E27FC236}">
                <a16:creationId xmlns:a16="http://schemas.microsoft.com/office/drawing/2014/main" id="{A69C567E-AACA-A023-94F5-6526DB38FFB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197" b="5928"/>
          <a:stretch>
            <a:fillRect/>
          </a:stretch>
        </p:blipFill>
        <p:spPr bwMode="auto">
          <a:xfrm>
            <a:off x="2282031" y="153707"/>
            <a:ext cx="7627938" cy="655058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027F2A9-19A9-4319-8E39-B664A50C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EA8749E-3FF3-41B2-B4DE-BB379C572509}" type="datetime1">
              <a:rPr lang="en-US" sz="1050">
                <a:solidFill>
                  <a:srgbClr val="898989"/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5/19/2026</a:t>
            </a:fld>
            <a:endParaRPr lang="en-US" sz="1050">
              <a:solidFill>
                <a:srgbClr val="898989"/>
              </a:solidFill>
              <a:latin typeface="+mn-lt"/>
              <a:cs typeface="+mn-cs"/>
            </a:endParaRP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AEF4D8C0-FCAD-44C7-9CF2-4F653D76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DFB7573-0EEC-4F18-B4D8-B9624EC7F9C7}" type="slidenum">
              <a:rPr lang="en-U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26</a:t>
            </a:fld>
            <a:endParaRPr lang="en-US" sz="105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86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4700</TotalTime>
  <Words>1868</Words>
  <Application>Microsoft Office PowerPoint</Application>
  <PresentationFormat>Widescreen</PresentationFormat>
  <Paragraphs>254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Book Antiqua</vt:lpstr>
      <vt:lpstr>Calibri</vt:lpstr>
      <vt:lpstr>Cambria</vt:lpstr>
      <vt:lpstr>Times New Roman</vt:lpstr>
      <vt:lpstr>Wingdings</vt:lpstr>
      <vt:lpstr>Office 2013 - 2022 Theme</vt:lpstr>
      <vt:lpstr>CSE 2794 – Machine Learning Workshop 2 External Project Presentation</vt:lpstr>
      <vt:lpstr>CONTENTS</vt:lpstr>
      <vt:lpstr>Introduction</vt:lpstr>
      <vt:lpstr>Problem Statement</vt:lpstr>
      <vt:lpstr>Objectives</vt:lpstr>
      <vt:lpstr>Dataset Description</vt:lpstr>
      <vt:lpstr>Exploratory Data Analysis (EDA)</vt:lpstr>
      <vt:lpstr>Exploratory Data Analysis (EDA)</vt:lpstr>
      <vt:lpstr>Exploratory Data Analysis (EDA)</vt:lpstr>
      <vt:lpstr>Data Preprocessing</vt:lpstr>
      <vt:lpstr>Data Preprocessing</vt:lpstr>
      <vt:lpstr>Model Selection</vt:lpstr>
      <vt:lpstr>Model Selection</vt:lpstr>
      <vt:lpstr>Model Selection</vt:lpstr>
      <vt:lpstr>Model Selection</vt:lpstr>
      <vt:lpstr>Model Hyperparameters</vt:lpstr>
      <vt:lpstr>Model Hyperparameters</vt:lpstr>
      <vt:lpstr>Evaluation Metrics</vt:lpstr>
      <vt:lpstr>Evaluation Metrics</vt:lpstr>
      <vt:lpstr>Evaluation Metrics</vt:lpstr>
      <vt:lpstr>Results &amp; Comparisons</vt:lpstr>
      <vt:lpstr>Results &amp; Comparisons</vt:lpstr>
      <vt:lpstr>Conclusion &amp; Future Scope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 P</dc:creator>
  <cp:lastModifiedBy>ABINASH BAHINIPATI</cp:lastModifiedBy>
  <cp:revision>57</cp:revision>
  <dcterms:created xsi:type="dcterms:W3CDTF">2019-03-27T16:45:00Z</dcterms:created>
  <dcterms:modified xsi:type="dcterms:W3CDTF">2026-05-19T01:49:10Z</dcterms:modified>
</cp:coreProperties>
</file>